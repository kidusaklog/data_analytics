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3" r:id="rId9"/>
    <p:sldId id="265" r:id="rId10"/>
    <p:sldId id="264" r:id="rId11"/>
    <p:sldId id="261" r:id="rId12"/>
    <p:sldId id="262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6"/>
    <a:srgbClr val="FFF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sales analysis for Len Jensen, focusing on Charleston and Greenville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analysis filters the store and sales data to Len Jensen and answers the main capstone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headline numbers: total revenue, Greenville ahead of Charleston, and total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monthly revenue line chart and describe seasonality and differences between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Technology &amp; Accessories is the dominant revenue driver and compare both stores by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SWOT to organize the business interpretation: strengths, weaknesses, opportunities, and threats.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recommendation: a South Region back-to-school tech campaign plus bundles to grow smaller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502920"/>
            <a:ext cx="2651760" cy="2651760"/>
          </a:xfrm>
          <a:prstGeom prst="ellipse">
            <a:avLst/>
          </a:prstGeom>
          <a:solidFill>
            <a:srgbClr val="275577">
              <a:alpha val="85000"/>
            </a:srgbClr>
          </a:solidFill>
          <a:ln w="12700">
            <a:solidFill>
              <a:srgbClr val="27557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931920"/>
            <a:ext cx="2148840" cy="2148840"/>
          </a:xfrm>
          <a:prstGeom prst="ellipse">
            <a:avLst/>
          </a:prstGeom>
          <a:solidFill>
            <a:srgbClr val="00A6A6">
              <a:alpha val="75000"/>
            </a:srgbClr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EmporiUm Sales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04672" y="18653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FF7F7"/>
                </a:solidFill>
              </a:rPr>
              <a:t>Len Jensen • South Region Stores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" y="2286000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7E2"/>
                </a:solidFill>
              </a:rPr>
              <a:t>Store 852: Charleston, SC  |  Store 853: Greenville, SC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38404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9496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Kidus Tesema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Year Up United • Capstone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 Scope &amp; Business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The notebook filters the project data to Len Jensen’s two assigned stores.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261872" cy="237744"/>
          </a:xfrm>
          <a:prstGeom prst="roundRect">
            <a:avLst>
              <a:gd name="adj" fmla="val 30769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6172"/>
            <a:ext cx="10972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SCOPE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685800" y="1682496"/>
            <a:ext cx="3383280" cy="91440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324A"/>
                </a:solidFill>
              </a:rPr>
              <a:t>Manager: Len Jensen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9324A"/>
                </a:solidFill>
              </a:rPr>
              <a:t>Region: South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9324A"/>
                </a:solidFill>
              </a:rPr>
              <a:t>Director: Andy Gisselquist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80560" y="1353312"/>
            <a:ext cx="0" cy="425196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325880"/>
            <a:ext cx="1261872" cy="237744"/>
          </a:xfrm>
          <a:prstGeom prst="roundRect">
            <a:avLst>
              <a:gd name="adj" fmla="val 30769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376172"/>
            <a:ext cx="10972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QUESTIONS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800600" y="1773936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719072"/>
            <a:ext cx="5943600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324A"/>
                </a:solidFill>
              </a:rPr>
              <a:t>Which store performs better by total sales?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2295144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40280"/>
            <a:ext cx="5943600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324A"/>
                </a:solidFill>
              </a:rPr>
              <a:t>How does monthly revenue trend over time?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816352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2761488"/>
            <a:ext cx="5943600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324A"/>
                </a:solidFill>
              </a:rPr>
              <a:t>Who are the top customers using rewards IDs?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3337560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282696"/>
            <a:ext cx="5943600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324A"/>
                </a:solidFill>
              </a:rPr>
              <a:t>Which product categories drive the most revenue?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3858768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3803904"/>
            <a:ext cx="5943600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324A"/>
                </a:solidFill>
              </a:rPr>
              <a:t>Where should marketing focus next quarter?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" y="3931920"/>
            <a:ext cx="3063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1605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324A"/>
                </a:solidFill>
              </a:rPr>
              <a:t>Assigned Stores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48970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852 Charleston, South Carolina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853 Greenville, South Carolina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644652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Capstone 2 • EmporiUm Sales Analysis • Len Jensen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92840" y="642823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59460" y="132588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Snapshot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Total performance for Len Jensen’s stores across January 2022–December 2025.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3152" cy="1051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490472"/>
            <a:ext cx="22677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$648.8K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41832" y="1892808"/>
            <a:ext cx="2267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Total revenue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132588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325880"/>
            <a:ext cx="73152" cy="105156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1490472"/>
            <a:ext cx="22677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$337.0K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822192" y="1892808"/>
            <a:ext cx="2267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Greenville revenue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132588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325880"/>
            <a:ext cx="73152" cy="10515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490472"/>
            <a:ext cx="22677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$311.8K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702552" y="1892808"/>
            <a:ext cx="2267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Charleston revenue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72600" y="1325880"/>
            <a:ext cx="20574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72600" y="1325880"/>
            <a:ext cx="73152" cy="1051560"/>
          </a:xfrm>
          <a:prstGeom prst="rect">
            <a:avLst/>
          </a:prstGeom>
          <a:solidFill>
            <a:srgbClr val="4D9E61"/>
          </a:solidFill>
          <a:ln w="12700">
            <a:solidFill>
              <a:srgbClr val="4D9E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912" y="1490472"/>
            <a:ext cx="17647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4,472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82912" y="1892808"/>
            <a:ext cx="17647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Transactions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28803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324A"/>
                </a:solidFill>
              </a:rPr>
              <a:t>Key takeaway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3291840"/>
            <a:ext cx="5623560" cy="11430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</a:rPr>
              <a:t>Greenville is the stronger store overall, but Charleston is close enough that targeted support could close the gap. Technology &amp; Accessories dominates revenue and should lead the next marketing push.</a:t>
            </a:r>
            <a:endParaRPr lang="en-US" sz="1800" dirty="0"/>
          </a:p>
        </p:txBody>
      </p:sp>
      <p:pic>
        <p:nvPicPr>
          <p:cNvPr id="23" name="Image 0" descr="/mnt/data/capstone_assets/store_rank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8720" y="2671445"/>
            <a:ext cx="5570220" cy="348170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94360" y="644652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Capstone 2 • EmporiUm Sales Analysis • Len Jensen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292840" y="642823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Monthly Revenue Trend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Revenue varies month to month, with both stores showing strong late-period activity.</a:t>
            </a:r>
            <a:endParaRPr lang="en-US" sz="1050" dirty="0"/>
          </a:p>
        </p:txBody>
      </p:sp>
      <p:pic>
        <p:nvPicPr>
          <p:cNvPr id="5" name="Image 0" descr="/mnt/data/capstone_assets/monthly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19047"/>
            <a:ext cx="7360920" cy="40485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532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324A"/>
                </a:solidFill>
              </a:rPr>
              <a:t>What this means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75320" y="1929384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9912" y="1874520"/>
            <a:ext cx="3108960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324A"/>
                </a:solidFill>
              </a:rPr>
              <a:t>Greenville finishes ahead in total revenue.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75320" y="2706624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39912" y="2651760"/>
            <a:ext cx="3108960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324A"/>
                </a:solidFill>
              </a:rPr>
              <a:t>Both stores have seasonal spikes, useful for campaign timing.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75320" y="3666744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39912" y="3611880"/>
            <a:ext cx="3108960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324A"/>
                </a:solidFill>
              </a:rPr>
              <a:t>Marketing should target high-revenue months and repeat the strongest category offers.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644652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Capstone 2 • EmporiUm Sales Analysis • Len Jensen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292840" y="642823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Drivers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Technology &amp; Accessories is the largest revenue category in both stores.</a:t>
            </a:r>
            <a:endParaRPr lang="en-US" sz="1050" dirty="0"/>
          </a:p>
        </p:txBody>
      </p:sp>
      <p:pic>
        <p:nvPicPr>
          <p:cNvPr id="5" name="Image 0" descr="/mnt/data/capstone_assets/category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61922"/>
            <a:ext cx="6492240" cy="35707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59650" y="5083683"/>
            <a:ext cx="365760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578725" y="5319649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324A"/>
                </a:solidFill>
              </a:rPr>
              <a:t>Technology &amp; Accessories = 77.9% of Len Jensen revenue</a:t>
            </a:r>
            <a:endParaRPr lang="en-US" sz="1400" b="1" dirty="0">
              <a:solidFill>
                <a:srgbClr val="19324A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594360" y="644652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Capstone 2 • EmporiUm Sales Analysis • Len Jensen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92840" y="642823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  <p:pic>
        <p:nvPicPr>
          <p:cNvPr id="11" name="Picture 10" descr="out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10" y="1236980"/>
            <a:ext cx="3681730" cy="3696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>
            <a:alpha val="88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3035" y="320040"/>
            <a:ext cx="1172718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E2837"/>
                </a:solidFill>
              </a:defRPr>
            </a:pPr>
            <a:r>
              <a:rPr>
                <a:sym typeface="+mn-ea"/>
              </a:rPr>
              <a:t>Back-to-School</a:t>
            </a:r>
            <a:r>
              <a:rPr lang="en-US">
                <a:sym typeface="+mn-ea"/>
              </a:rPr>
              <a:t> &amp; </a:t>
            </a:r>
            <a:r>
              <a:t>Post Back-to-School: Clearance &amp; Shelf Turnover Season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After the school rush, October–November can turn leftover demand and discounted inventory into additional revenue.</a:t>
            </a:r>
          </a:p>
        </p:txBody>
      </p:sp>
      <p:pic>
        <p:nvPicPr>
          <p:cNvPr id="4" name="Picture 3" descr="post_bts_revenue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5760720" cy="28382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29400" y="1325880"/>
            <a:ext cx="4663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182880" rtlCol="0" anchor="ctr"/>
          <a:lstStyle/>
          <a:p>
            <a:pPr algn="ctr">
              <a:defRPr sz="1600" b="1">
                <a:solidFill>
                  <a:srgbClr val="1E2837"/>
                </a:solidFill>
              </a:defRPr>
            </a:pPr>
            <a:r>
              <a:t>Key insight</a:t>
            </a:r>
          </a:p>
          <a:p>
            <a:pPr>
              <a:spcAft>
                <a:spcPts val="500"/>
              </a:spcAft>
              <a:defRPr sz="1200">
                <a:solidFill>
                  <a:srgbClr val="374150"/>
                </a:solidFill>
              </a:defRPr>
            </a:pPr>
            <a:r>
              <a:t>October is the highest month in the period shown, at about $67.1K.</a:t>
            </a:r>
          </a:p>
          <a:p>
            <a:pPr>
              <a:spcAft>
                <a:spcPts val="500"/>
              </a:spcAft>
              <a:defRPr sz="1200">
                <a:solidFill>
                  <a:srgbClr val="374150"/>
                </a:solidFill>
              </a:defRPr>
            </a:pPr>
            <a:r>
              <a:t>This suggests sales do not stop after back-to-school; clearance, restock, and late student purchases keep demand active.</a:t>
            </a:r>
          </a:p>
          <a:p>
            <a:pPr>
              <a:spcAft>
                <a:spcPts val="500"/>
              </a:spcAft>
              <a:defRPr sz="1200">
                <a:solidFill>
                  <a:srgbClr val="374150"/>
                </a:solidFill>
              </a:defRPr>
            </a:pPr>
            <a:r>
              <a:t>Post-season promotions can help move products off shelves before they become slow inventory.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3520440"/>
            <a:ext cx="4663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Ins="182880" rtlCol="0" anchor="ctr"/>
          <a:lstStyle/>
          <a:p>
            <a:pPr algn="ctr">
              <a:defRPr sz="1600" b="1">
                <a:solidFill>
                  <a:srgbClr val="1E2837"/>
                </a:solidFill>
              </a:defRPr>
            </a:pPr>
            <a:r>
              <a:t>Recommendation</a:t>
            </a:r>
          </a:p>
          <a:p>
            <a:pPr>
              <a:spcAft>
                <a:spcPts val="500"/>
              </a:spcAft>
              <a:defRPr sz="1200">
                <a:solidFill>
                  <a:srgbClr val="374150"/>
                </a:solidFill>
              </a:defRPr>
            </a:pPr>
            <a:r>
              <a:t>Run a 2–3 week “after back-to-school sale” in October.</a:t>
            </a:r>
          </a:p>
          <a:p>
            <a:pPr>
              <a:spcAft>
                <a:spcPts val="500"/>
              </a:spcAft>
              <a:defRPr sz="1200">
                <a:solidFill>
                  <a:srgbClr val="374150"/>
                </a:solidFill>
              </a:defRPr>
            </a:pPr>
            <a:r>
              <a:t>Bundle Technology &amp; Accessories with Textbooks and Apparel to increase basket size.</a:t>
            </a:r>
          </a:p>
          <a:p>
            <a:pPr>
              <a:spcAft>
                <a:spcPts val="500"/>
              </a:spcAft>
              <a:defRPr sz="1200">
                <a:solidFill>
                  <a:srgbClr val="374150"/>
                </a:solidFill>
              </a:defRPr>
            </a:pPr>
            <a:r>
              <a:t>Use clearance messaging: “limited stock,” “last chance,” and “student essentials still available.”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2179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F6976"/>
                </a:solidFill>
              </a:defRPr>
            </a:pPr>
            <a:r>
              <a:t>Post-season focus: move remaining inventory, protect revenue after the school rush, and create demand for follow-up purchases.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to_2026-05-28_20-45-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290" y="8890"/>
            <a:ext cx="9735185" cy="2554605"/>
          </a:xfrm>
          <a:prstGeom prst="rect">
            <a:avLst/>
          </a:prstGeom>
        </p:spPr>
      </p:pic>
      <p:pic>
        <p:nvPicPr>
          <p:cNvPr id="3" name="Picture 2" descr="photo_2026-05-28_20-45-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815" y="2394585"/>
            <a:ext cx="9713595" cy="4453890"/>
          </a:xfrm>
          <a:prstGeom prst="rect">
            <a:avLst/>
          </a:prstGeom>
        </p:spPr>
      </p:pic>
      <p:pic>
        <p:nvPicPr>
          <p:cNvPr id="4" name="Picture 3" descr="pngwing.com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809750" y="723900"/>
            <a:ext cx="8378825" cy="4714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>
            <a:alpha val="88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2D"/>
                </a:solidFill>
              </a:defRPr>
            </a:pPr>
            <a:r>
              <a:t>Top Five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5F"/>
                </a:solidFill>
              </a:defRPr>
            </a:pPr>
            <a:r>
              <a:t>Highest revenue customers across Len Jensen’s Charleston and Greenville stores.</a:t>
            </a:r>
          </a:p>
        </p:txBody>
      </p:sp>
      <p:pic>
        <p:nvPicPr>
          <p:cNvPr id="4" name="Picture 3" descr="top_5_customers_len_jense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583680" cy="379327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371600"/>
            <a:ext cx="4297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64592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232D"/>
                </a:solidFill>
              </a:defRPr>
            </a:pPr>
            <a:r>
              <a:t>#1: Jin Kwon</a:t>
            </a:r>
          </a:p>
          <a:p>
            <a:pPr>
              <a:defRPr sz="1400">
                <a:solidFill>
                  <a:srgbClr val="414B55"/>
                </a:solidFill>
              </a:defRPr>
            </a:pPr>
            <a:r>
              <a:t>$1,786.05 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514600"/>
            <a:ext cx="3703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741"/>
                </a:solidFill>
              </a:defRPr>
            </a:pPr>
            <a:r>
              <a:t>1. Jin Kwon: $1,786</a:t>
            </a:r>
          </a:p>
          <a:p>
            <a:pPr>
              <a:spcAft>
                <a:spcPts val="400"/>
              </a:spcAft>
              <a:defRPr sz="1300">
                <a:solidFill>
                  <a:srgbClr val="2D3741"/>
                </a:solidFill>
              </a:defRPr>
            </a:pPr>
            <a:r>
              <a:t>2. Roman Roy: $1,779</a:t>
            </a:r>
          </a:p>
          <a:p>
            <a:pPr>
              <a:spcAft>
                <a:spcPts val="400"/>
              </a:spcAft>
              <a:defRPr sz="1300">
                <a:solidFill>
                  <a:srgbClr val="2D3741"/>
                </a:solidFill>
              </a:defRPr>
            </a:pPr>
            <a:r>
              <a:t>3. Jazz: $1,764</a:t>
            </a:r>
          </a:p>
          <a:p>
            <a:pPr>
              <a:spcAft>
                <a:spcPts val="400"/>
              </a:spcAft>
              <a:defRPr sz="1300">
                <a:solidFill>
                  <a:srgbClr val="2D3741"/>
                </a:solidFill>
              </a:defRPr>
            </a:pPr>
            <a:r>
              <a:t>4. Ben Chang: $1,567</a:t>
            </a:r>
          </a:p>
          <a:p>
            <a:pPr>
              <a:spcAft>
                <a:spcPts val="400"/>
              </a:spcAft>
              <a:defRPr sz="1300">
                <a:solidFill>
                  <a:srgbClr val="2D3741"/>
                </a:solidFill>
              </a:defRPr>
            </a:pPr>
            <a:r>
              <a:t>5. Cal Abar: $1,396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041648"/>
            <a:ext cx="3703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32D"/>
                </a:solidFill>
              </a:defRPr>
            </a:pPr>
            <a:r>
              <a:t>Insight &amp; action</a:t>
            </a:r>
          </a:p>
          <a:p>
            <a:pPr>
              <a:spcAft>
                <a:spcPts val="300"/>
              </a:spcAft>
              <a:defRPr sz="1200">
                <a:solidFill>
                  <a:srgbClr val="37414B"/>
                </a:solidFill>
              </a:defRPr>
            </a:pPr>
            <a:r>
              <a:t>• Create VIP offers for top customers during back-to-school.</a:t>
            </a:r>
          </a:p>
          <a:p>
            <a:pPr>
              <a:spcAft>
                <a:spcPts val="300"/>
              </a:spcAft>
              <a:defRPr sz="1200">
                <a:solidFill>
                  <a:srgbClr val="37414B"/>
                </a:solidFill>
              </a:defRPr>
            </a:pPr>
            <a:r>
              <a:t>• Send early access discounts after the season to keep shelves moving.</a:t>
            </a:r>
          </a:p>
          <a:p>
            <a:pPr>
              <a:spcAft>
                <a:spcPts val="300"/>
              </a:spcAft>
              <a:defRPr sz="1200">
                <a:solidFill>
                  <a:srgbClr val="37414B"/>
                </a:solidFill>
              </a:defRPr>
            </a:pPr>
            <a:r>
              <a:t>• Use loyalty rewards to increase repeat purchases.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C"/>
                </a:solidFill>
              </a:defRPr>
            </a:pPr>
            <a:r>
              <a:t>Data source: StoreSales + customer_list filtered to Len Jensen stores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SWOT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SWOT summarizes what the marketing team can act on next quarter.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4983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E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98448"/>
            <a:ext cx="4983480" cy="411480"/>
          </a:xfrm>
          <a:prstGeom prst="rect">
            <a:avLst/>
          </a:prstGeom>
          <a:solidFill>
            <a:srgbClr val="4D9E61"/>
          </a:solidFill>
          <a:ln w="12700">
            <a:solidFill>
              <a:srgbClr val="4D9E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9903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Strengths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11096"/>
            <a:ext cx="4498848" cy="9875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Greenville leads total revenue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Tech category is a clear winner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Both stores have strong transaction volume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298448"/>
            <a:ext cx="4983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298448"/>
            <a:ext cx="4983480" cy="4114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39903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Weaknesses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1911096"/>
            <a:ext cx="4498848" cy="9875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Charleston trails Greenville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Revenue depends heavily on tech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Lower categories contribute little revenue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703320"/>
            <a:ext cx="4983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703320"/>
            <a:ext cx="4983480" cy="4114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803904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Opportunities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315968"/>
            <a:ext cx="4498848" cy="9875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Back-to-school tech bundles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Cross-sell stationery, books, and supplies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Rewards offers for top customers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3703320"/>
            <a:ext cx="4983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E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703320"/>
            <a:ext cx="4983480" cy="411480"/>
          </a:xfrm>
          <a:prstGeom prst="rect">
            <a:avLst/>
          </a:prstGeom>
          <a:solidFill>
            <a:srgbClr val="CF5A5A"/>
          </a:solidFill>
          <a:ln w="12700">
            <a:solidFill>
              <a:srgbClr val="CF5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3803904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Threats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4315968"/>
            <a:ext cx="4498848" cy="9875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Over-reliance on one category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Competitor promotions on tech gear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• Seasonal demand can fluctuate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44652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Capstone 2 • EmporiUm Sales Analysis • Len Jensen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2823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for Next Quarter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Focus marketing where the data shows the biggest return and the clearest growth path.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8650" y="13258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324A"/>
                </a:solidFill>
              </a:rPr>
              <a:t>Recommended focus:</a:t>
            </a:r>
            <a:endParaRPr lang="en-US" sz="2400" b="1" dirty="0">
              <a:solidFill>
                <a:srgbClr val="19324A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38175" y="1938528"/>
            <a:ext cx="6492240" cy="10515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9324A"/>
                </a:solidFill>
              </a:rPr>
              <a:t>Run a South Region back-to-school Technology &amp; Accessories campaign, led by Greenville and supported with targeted growth promotions in Charleston.</a:t>
            </a:r>
            <a:endParaRPr lang="en-US" sz="2000" b="1" dirty="0">
              <a:solidFill>
                <a:srgbClr val="19324A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3429000"/>
            <a:ext cx="1261872" cy="237744"/>
          </a:xfrm>
          <a:prstGeom prst="roundRect">
            <a:avLst>
              <a:gd name="adj" fmla="val 30769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479292"/>
            <a:ext cx="10972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WHY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685800" y="3941064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886200"/>
            <a:ext cx="6035040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324A"/>
                </a:solidFill>
              </a:rPr>
              <a:t>Greenville has the highest total revenue ($337.0K).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462272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4407408"/>
            <a:ext cx="6035040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324A"/>
                </a:solidFill>
              </a:rPr>
              <a:t>Technology &amp; Accessories drives almost three-fourths of revenue.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83480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928616"/>
            <a:ext cx="6035040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324A"/>
                </a:solidFill>
              </a:rPr>
              <a:t>Bundles can lift smaller categories such as books, stationery, and art supplies.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1417320"/>
            <a:ext cx="3429000" cy="4297680"/>
          </a:xfrm>
          <a:prstGeom prst="roundRect">
            <a:avLst>
              <a:gd name="adj" fmla="val 4267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7215" y="1781810"/>
            <a:ext cx="2732405" cy="271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FF7F7"/>
                </a:solidFill>
              </a:rPr>
              <a:t>“Based on the data, I recommend using the strongest category to drive traffic, then bundling lower-performing categories to increase basket size.”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97215" y="4773295"/>
            <a:ext cx="25831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 step: launch campaign + compare next quarter results.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Capstone 2 • EmporiUm Sales Analysis • Len Jensen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92840" y="642823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4326</Words>
  <Application>WPS Presentation</Application>
  <PresentationFormat>On-screen Show (16:9)</PresentationFormat>
  <Paragraphs>186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Aptos Display</vt:lpstr>
      <vt:lpstr>Segoe UI Variable Display</vt:lpstr>
      <vt:lpstr>Aptos Display</vt:lpstr>
      <vt:lpstr>Aptos Display</vt:lpstr>
      <vt:lpstr>Aptos</vt:lpstr>
      <vt:lpstr>Segoe UI</vt:lpstr>
      <vt:lpstr>Microsoft YaHei</vt:lpstr>
      <vt:lpstr>Arial Unicode MS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Year Up United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EmporiUm Sales Analysis — Len Jensen</dc:title>
  <dc:creator>Kidus Tesema</dc:creator>
  <dc:subject>Capstone 2 EmporiUm Sales Analysis for Len Jensen</dc:subject>
  <cp:lastModifiedBy>kidusaklog tesema</cp:lastModifiedBy>
  <cp:revision>2</cp:revision>
  <dcterms:created xsi:type="dcterms:W3CDTF">2026-05-28T00:55:00Z</dcterms:created>
  <dcterms:modified xsi:type="dcterms:W3CDTF">2026-05-29T02:37:48Z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C0DCA2E2C1244E088CF3D04EDB1A14AA_13</vt:lpwstr>
  </property>
  <property fmtid="{D5CDD505-2E9C-101B-9397-08002B2CF9AE}" pid="3" name="KSOProductBuildVer">
    <vt:lpwstr>1033-12.1.0.26372</vt:lpwstr>
  </property>
</Properties>
</file>